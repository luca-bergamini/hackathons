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4"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4854"/>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058400" cy="1371600"/>
          </a:xfrm>
          <a:prstGeom prst="rect">
            <a:avLst/>
          </a:prstGeom>
          <a:noFill/>
        </p:spPr>
        <p:txBody>
          <a:bodyPr wrap="square">
            <a:spAutoFit/>
          </a:bodyPr>
          <a:lstStyle/>
          <a:p>
            <a:pPr algn="ctr">
              <a:defRPr sz="4000" b="1">
                <a:solidFill>
                  <a:srgbClr val="FFFFFF"/>
                </a:solidFill>
              </a:defRPr>
            </a:pPr>
            <a:r>
              <a:t>FARMAVITA STORE SALES PREDICTOR</a:t>
            </a:r>
          </a:p>
        </p:txBody>
      </p:sp>
      <p:sp>
        <p:nvSpPr>
          <p:cNvPr id="3" name="TextBox 2"/>
          <p:cNvSpPr txBox="1"/>
          <p:nvPr/>
        </p:nvSpPr>
        <p:spPr>
          <a:xfrm>
            <a:off x="914400" y="2926080"/>
            <a:ext cx="10058400" cy="523220"/>
          </a:xfrm>
          <a:prstGeom prst="rect">
            <a:avLst/>
          </a:prstGeom>
          <a:noFill/>
        </p:spPr>
        <p:txBody>
          <a:bodyPr wrap="square">
            <a:spAutoFit/>
          </a:bodyPr>
          <a:lstStyle/>
          <a:p>
            <a:pPr algn="ctr">
              <a:defRPr sz="2800" b="0">
                <a:solidFill>
                  <a:srgbClr val="CAD405"/>
                </a:solidFill>
              </a:defRPr>
            </a:pPr>
            <a:r>
              <a:rPr dirty="0"/>
              <a:t>T</a:t>
            </a:r>
            <a:r>
              <a:rPr lang="it-IT" dirty="0" err="1"/>
              <a:t>eam</a:t>
            </a:r>
            <a:r>
              <a:rPr lang="it-IT" dirty="0"/>
              <a:t> 04</a:t>
            </a:r>
            <a:endParaRPr dirty="0"/>
          </a:p>
        </p:txBody>
      </p:sp>
      <p:sp>
        <p:nvSpPr>
          <p:cNvPr id="4" name="TextBox 3"/>
          <p:cNvSpPr txBox="1"/>
          <p:nvPr/>
        </p:nvSpPr>
        <p:spPr>
          <a:xfrm>
            <a:off x="914400" y="4114800"/>
            <a:ext cx="10058400" cy="400110"/>
          </a:xfrm>
          <a:prstGeom prst="rect">
            <a:avLst/>
          </a:prstGeom>
          <a:noFill/>
        </p:spPr>
        <p:txBody>
          <a:bodyPr wrap="square">
            <a:spAutoFit/>
          </a:bodyPr>
          <a:lstStyle/>
          <a:p>
            <a:pPr algn="ctr">
              <a:defRPr sz="2000" b="0">
                <a:solidFill>
                  <a:srgbClr val="FFFFFF"/>
                </a:solidFill>
              </a:defRPr>
            </a:pPr>
            <a:r>
              <a:rPr dirty="0"/>
              <a:t>AI Coding Tool:</a:t>
            </a:r>
            <a:r>
              <a:rPr lang="it-IT" dirty="0"/>
              <a:t> </a:t>
            </a:r>
            <a:r>
              <a:rPr lang="it-IT" dirty="0" err="1"/>
              <a:t>Antigravity</a:t>
            </a:r>
            <a:endParaRPr dirty="0"/>
          </a:p>
        </p:txBody>
      </p:sp>
      <p:sp>
        <p:nvSpPr>
          <p:cNvPr id="5" name="TextBox 4"/>
          <p:cNvSpPr txBox="1"/>
          <p:nvPr/>
        </p:nvSpPr>
        <p:spPr>
          <a:xfrm>
            <a:off x="914400" y="5486400"/>
            <a:ext cx="10058400" cy="457200"/>
          </a:xfrm>
          <a:prstGeom prst="rect">
            <a:avLst/>
          </a:prstGeom>
          <a:noFill/>
        </p:spPr>
        <p:txBody>
          <a:bodyPr wrap="square">
            <a:spAutoFit/>
          </a:bodyPr>
          <a:lstStyle/>
          <a:p>
            <a:pPr algn="ctr">
              <a:defRPr sz="1400" b="0">
                <a:solidFill>
                  <a:srgbClr val="7A9A9E"/>
                </a:solidFill>
              </a:defRPr>
            </a:pPr>
            <a:r>
              <a:t>Hackathon 2026 - AI Coding Tools Challenge</a:t>
            </a:r>
          </a:p>
        </p:txBody>
      </p:sp>
      <p:pic>
        <p:nvPicPr>
          <p:cNvPr id="999" name="Logo Data Reply"/>
          <p:cNvPicPr>
            <a:picLocks noChangeAspect="1"/>
          </p:cNvPicPr>
          <p:nvPr/>
        </p:nvPicPr>
        <p:blipFill>
          <a:blip r:embed="rId2"/>
          <a:stretch>
            <a:fillRect/>
          </a:stretch>
        </p:blipFill>
        <p:spPr>
          <a:xfrm>
            <a:off x="9392000" y="5717739"/>
            <a:ext cx="2500000" cy="8402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AGENDA</a:t>
            </a:r>
          </a:p>
        </p:txBody>
      </p:sp>
      <p:sp>
        <p:nvSpPr>
          <p:cNvPr id="3" name="TextBox 2"/>
          <p:cNvSpPr txBox="1"/>
          <p:nvPr/>
        </p:nvSpPr>
        <p:spPr>
          <a:xfrm>
            <a:off x="914400" y="1645920"/>
            <a:ext cx="9144000" cy="4572000"/>
          </a:xfrm>
          <a:prstGeom prst="rect">
            <a:avLst/>
          </a:prstGeom>
          <a:noFill/>
        </p:spPr>
        <p:txBody>
          <a:bodyPr wrap="square">
            <a:spAutoFit/>
          </a:bodyPr>
          <a:lstStyle/>
          <a:p>
            <a:pPr>
              <a:spcAft>
                <a:spcPts val="800"/>
              </a:spcAft>
              <a:defRPr sz="2000">
                <a:solidFill>
                  <a:srgbClr val="024854"/>
                </a:solidFill>
              </a:defRPr>
            </a:pPr>
            <a:r>
              <a:t>1. Il problema e l'approccio</a:t>
            </a:r>
          </a:p>
          <a:p>
            <a:pPr>
              <a:spcAft>
                <a:spcPts val="800"/>
              </a:spcAft>
              <a:defRPr sz="2000">
                <a:solidFill>
                  <a:srgbClr val="024854"/>
                </a:solidFill>
              </a:defRPr>
            </a:pPr>
            <a:r>
              <a:t>2. Architettura della soluzione</a:t>
            </a:r>
          </a:p>
          <a:p>
            <a:pPr>
              <a:spcAft>
                <a:spcPts val="800"/>
              </a:spcAft>
              <a:defRPr sz="2000">
                <a:solidFill>
                  <a:srgbClr val="024854"/>
                </a:solidFill>
              </a:defRPr>
            </a:pPr>
            <a:r>
              <a:t>3. Data Augmentation e pulizia dati</a:t>
            </a:r>
          </a:p>
          <a:p>
            <a:pPr>
              <a:spcAft>
                <a:spcPts val="800"/>
              </a:spcAft>
              <a:defRPr sz="2000">
                <a:solidFill>
                  <a:srgbClr val="024854"/>
                </a:solidFill>
              </a:defRPr>
            </a:pPr>
            <a:r>
              <a:t>4. Feature Engineering</a:t>
            </a:r>
          </a:p>
          <a:p>
            <a:pPr>
              <a:spcAft>
                <a:spcPts val="800"/>
              </a:spcAft>
              <a:defRPr sz="2000">
                <a:solidFill>
                  <a:srgbClr val="024854"/>
                </a:solidFill>
              </a:defRPr>
            </a:pPr>
            <a:r>
              <a:t>5. Modello ML e risultati</a:t>
            </a:r>
          </a:p>
          <a:p>
            <a:pPr>
              <a:spcAft>
                <a:spcPts val="800"/>
              </a:spcAft>
              <a:defRPr sz="2000">
                <a:solidFill>
                  <a:srgbClr val="024854"/>
                </a:solidFill>
              </a:defRPr>
            </a:pPr>
            <a:r>
              <a:t>6. RAG - Sales Advisor</a:t>
            </a:r>
          </a:p>
          <a:p>
            <a:pPr>
              <a:spcAft>
                <a:spcPts val="800"/>
              </a:spcAft>
              <a:defRPr sz="2000">
                <a:solidFill>
                  <a:srgbClr val="024854"/>
                </a:solidFill>
              </a:defRPr>
            </a:pPr>
            <a:r>
              <a:t>7. Demo live</a:t>
            </a:r>
          </a:p>
          <a:p>
            <a:pPr>
              <a:spcAft>
                <a:spcPts val="800"/>
              </a:spcAft>
              <a:defRPr sz="2000">
                <a:solidFill>
                  <a:srgbClr val="024854"/>
                </a:solidFill>
              </a:defRPr>
            </a:pPr>
            <a:r>
              <a:t>8. Analisi critica e lesson learned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IL PROBLEMA E L'APPROCCIO</a:t>
            </a:r>
          </a:p>
        </p:txBody>
      </p:sp>
      <p:sp>
        <p:nvSpPr>
          <p:cNvPr id="3" name="TextBox 2"/>
          <p:cNvSpPr txBox="1"/>
          <p:nvPr/>
        </p:nvSpPr>
        <p:spPr>
          <a:xfrm>
            <a:off x="914400" y="1645920"/>
            <a:ext cx="10872216" cy="2431435"/>
          </a:xfrm>
          <a:prstGeom prst="rect">
            <a:avLst/>
          </a:prstGeom>
          <a:noFill/>
        </p:spPr>
        <p:txBody>
          <a:bodyPr wrap="square">
            <a:spAutoFit/>
          </a:bodyPr>
          <a:lstStyle/>
          <a:p>
            <a:pPr algn="ctr">
              <a:spcAft>
                <a:spcPts val="800"/>
              </a:spcAft>
              <a:defRPr sz="1600">
                <a:solidFill>
                  <a:srgbClr val="024854"/>
                </a:solidFill>
              </a:defRPr>
            </a:pPr>
            <a:r>
              <a:rPr dirty="0" err="1"/>
              <a:t>Predire</a:t>
            </a:r>
            <a:r>
              <a:rPr dirty="0"/>
              <a:t> le </a:t>
            </a:r>
            <a:r>
              <a:rPr dirty="0" err="1"/>
              <a:t>vendite</a:t>
            </a:r>
            <a:r>
              <a:rPr dirty="0"/>
              <a:t> </a:t>
            </a:r>
            <a:r>
              <a:rPr dirty="0" err="1"/>
              <a:t>giornaliere</a:t>
            </a:r>
            <a:r>
              <a:rPr dirty="0"/>
              <a:t> di 1.115 </a:t>
            </a:r>
            <a:r>
              <a:rPr dirty="0" err="1"/>
              <a:t>negozi</a:t>
            </a:r>
            <a:r>
              <a:rPr dirty="0"/>
              <a:t> </a:t>
            </a:r>
            <a:r>
              <a:rPr dirty="0" err="1"/>
              <a:t>FarmaVita</a:t>
            </a:r>
            <a:endParaRPr dirty="0"/>
          </a:p>
          <a:p>
            <a:pPr algn="ctr">
              <a:spcAft>
                <a:spcPts val="800"/>
              </a:spcAft>
              <a:defRPr sz="1600">
                <a:solidFill>
                  <a:srgbClr val="024854"/>
                </a:solidFill>
              </a:defRPr>
            </a:pPr>
            <a:r>
              <a:rPr dirty="0"/>
              <a:t>Dataset: ~1M </a:t>
            </a:r>
            <a:r>
              <a:rPr dirty="0" err="1"/>
              <a:t>righe</a:t>
            </a:r>
            <a:r>
              <a:rPr dirty="0"/>
              <a:t>, gen 2013 - lug 2015</a:t>
            </a:r>
          </a:p>
          <a:p>
            <a:pPr algn="ctr">
              <a:spcAft>
                <a:spcPts val="800"/>
              </a:spcAft>
              <a:defRPr sz="1600">
                <a:solidFill>
                  <a:srgbClr val="024854"/>
                </a:solidFill>
              </a:defRPr>
            </a:pPr>
            <a:r>
              <a:rPr dirty="0" err="1"/>
              <a:t>Metrica</a:t>
            </a:r>
            <a:r>
              <a:rPr dirty="0"/>
              <a:t>: RMSPE (Root Mean Square Percentage Error)</a:t>
            </a:r>
          </a:p>
          <a:p>
            <a:pPr algn="ctr">
              <a:spcAft>
                <a:spcPts val="800"/>
              </a:spcAft>
              <a:defRPr sz="1600">
                <a:solidFill>
                  <a:srgbClr val="024854"/>
                </a:solidFill>
              </a:defRPr>
            </a:pPr>
            <a:endParaRPr dirty="0"/>
          </a:p>
          <a:p>
            <a:pPr algn="ctr">
              <a:spcAft>
                <a:spcPts val="800"/>
              </a:spcAft>
              <a:defRPr sz="1600">
                <a:solidFill>
                  <a:srgbClr val="024854"/>
                </a:solidFill>
              </a:defRPr>
            </a:pPr>
            <a:r>
              <a:rPr dirty="0"/>
              <a:t>Il nostro </a:t>
            </a:r>
            <a:r>
              <a:rPr dirty="0" err="1"/>
              <a:t>approccio</a:t>
            </a:r>
            <a:r>
              <a:rPr dirty="0"/>
              <a:t>:</a:t>
            </a:r>
          </a:p>
          <a:p>
            <a:pPr algn="ctr">
              <a:spcAft>
                <a:spcPts val="800"/>
              </a:spcAft>
              <a:defRPr sz="1600">
                <a:solidFill>
                  <a:srgbClr val="024854"/>
                </a:solidFill>
              </a:defRPr>
            </a:pPr>
            <a:r>
              <a:rPr lang="it-IT" dirty="0"/>
              <a:t>- </a:t>
            </a:r>
            <a:r>
              <a:rPr lang="it-IT" dirty="0" err="1"/>
              <a:t>XGBoost</a:t>
            </a:r>
            <a:r>
              <a:rPr lang="it-IT" dirty="0"/>
              <a:t> </a:t>
            </a:r>
            <a:r>
              <a:rPr lang="it-IT" dirty="0" err="1"/>
              <a:t>Regression</a:t>
            </a:r>
            <a:r>
              <a:rPr lang="it-IT" dirty="0"/>
              <a:t> su log1p(Sales) con 39 feature (temporali, promozioni, meteo, target </a:t>
            </a:r>
            <a:r>
              <a:rPr lang="it-IT" dirty="0" err="1"/>
              <a:t>encoding</a:t>
            </a:r>
            <a:r>
              <a:rPr lang="it-IT" dirty="0"/>
              <a:t>)</a:t>
            </a:r>
          </a:p>
          <a:p>
            <a:pPr algn="ctr">
              <a:spcAft>
                <a:spcPts val="800"/>
              </a:spcAft>
              <a:defRPr sz="1600">
                <a:solidFill>
                  <a:srgbClr val="024854"/>
                </a:solidFill>
              </a:defRPr>
            </a:pPr>
            <a:r>
              <a:rPr lang="it-IT" dirty="0"/>
              <a:t>- Ottimizzazione </a:t>
            </a:r>
            <a:r>
              <a:rPr lang="it-IT" dirty="0" err="1"/>
              <a:t>Bayesiana</a:t>
            </a:r>
            <a:r>
              <a:rPr lang="it-IT" dirty="0"/>
              <a:t> (</a:t>
            </a:r>
            <a:r>
              <a:rPr lang="it-IT" dirty="0" err="1"/>
              <a:t>Optuna</a:t>
            </a:r>
            <a:r>
              <a:rPr lang="it-IT" dirty="0"/>
              <a:t>, 100 trial) + </a:t>
            </a:r>
            <a:r>
              <a:rPr lang="it-IT" dirty="0" err="1"/>
              <a:t>validation</a:t>
            </a:r>
            <a:r>
              <a:rPr lang="it-IT" dirty="0"/>
              <a:t> temporale (ultime 6 settimane)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ARCHITETTURA</a:t>
            </a:r>
          </a:p>
        </p:txBody>
      </p:sp>
      <p:sp>
        <p:nvSpPr>
          <p:cNvPr id="3" name="TextBox 2"/>
          <p:cNvSpPr txBox="1"/>
          <p:nvPr/>
        </p:nvSpPr>
        <p:spPr>
          <a:xfrm>
            <a:off x="914400" y="1645920"/>
            <a:ext cx="10058400" cy="830997"/>
          </a:xfrm>
          <a:prstGeom prst="rect">
            <a:avLst/>
          </a:prstGeom>
          <a:noFill/>
        </p:spPr>
        <p:txBody>
          <a:bodyPr wrap="square">
            <a:spAutoFit/>
          </a:bodyPr>
          <a:lstStyle/>
          <a:p>
            <a:pPr algn="ctr">
              <a:defRPr sz="1600" b="0">
                <a:solidFill>
                  <a:srgbClr val="7A9A9E"/>
                </a:solidFill>
              </a:defRPr>
            </a:pPr>
            <a:r>
              <a:rPr lang="it-IT"/>
              <a:t>[Inserire diagramma architettura end-to-end]</a:t>
            </a:r>
            <a:br>
              <a:rPr lang="it-IT"/>
            </a:br>
            <a:br>
              <a:rPr lang="it-IT"/>
            </a:br>
            <a:r>
              <a:rPr lang="it-IT"/>
              <a:t>PostgreSQL -&gt; Processing -&gt; Feature Eng. -&gt; Training -&gt; API -&gt; RAG</a:t>
            </a:r>
            <a:endParaRPr lang="it-IT" dirty="0"/>
          </a:p>
        </p:txBody>
      </p:sp>
      <p:pic>
        <p:nvPicPr>
          <p:cNvPr id="5" name="Immagine 4" descr="The image illustrates a comprehensive end-to-end machine learning (ML) pipeline for FarmaVita, featuring a PostgreSQL database, various stages including data processing, feature engineering, and training with XGBoost, followed by FastAPI for deployment, and includes a dashboard for monitoring and a streamlit dashboard for visualization.&#10;&#10;Il contenuto generato dall'IA potrebbe non essere corretto.">
            <a:extLst>
              <a:ext uri="{FF2B5EF4-FFF2-40B4-BE49-F238E27FC236}">
                <a16:creationId xmlns:a16="http://schemas.microsoft.com/office/drawing/2014/main" id="{998DD842-BB00-4A9C-DE7C-D31111FC1C9A}"/>
              </a:ext>
            </a:extLst>
          </p:cNvPr>
          <p:cNvPicPr>
            <a:picLocks noChangeAspect="1"/>
          </p:cNvPicPr>
          <p:nvPr/>
        </p:nvPicPr>
        <p:blipFill>
          <a:blip r:embed="rId2"/>
          <a:stretch>
            <a:fillRect/>
          </a:stretch>
        </p:blipFill>
        <p:spPr>
          <a:xfrm>
            <a:off x="3016648" y="1188720"/>
            <a:ext cx="6158703" cy="5212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DATA AUGMENTATION E PULIZIA DATI</a:t>
            </a:r>
          </a:p>
        </p:txBody>
      </p:sp>
      <p:sp>
        <p:nvSpPr>
          <p:cNvPr id="3" name="TextBox 2"/>
          <p:cNvSpPr txBox="1"/>
          <p:nvPr/>
        </p:nvSpPr>
        <p:spPr>
          <a:xfrm>
            <a:off x="914400" y="1645920"/>
            <a:ext cx="9180576" cy="3580467"/>
          </a:xfrm>
          <a:prstGeom prst="rect">
            <a:avLst/>
          </a:prstGeom>
          <a:noFill/>
        </p:spPr>
        <p:txBody>
          <a:bodyPr wrap="square">
            <a:spAutoFit/>
          </a:bodyPr>
          <a:lstStyle/>
          <a:p>
            <a:pPr>
              <a:spcAft>
                <a:spcPts val="800"/>
              </a:spcAft>
              <a:defRPr sz="1500">
                <a:solidFill>
                  <a:srgbClr val="024854"/>
                </a:solidFill>
              </a:defRPr>
            </a:pPr>
            <a:r>
              <a:rPr dirty="0"/>
              <a:t>Dataset di </a:t>
            </a:r>
            <a:r>
              <a:rPr dirty="0" err="1"/>
              <a:t>arricchimento</a:t>
            </a:r>
            <a:r>
              <a:rPr dirty="0"/>
              <a:t> </a:t>
            </a:r>
            <a:r>
              <a:rPr dirty="0" err="1"/>
              <a:t>utilizzati</a:t>
            </a:r>
            <a:r>
              <a:rPr dirty="0"/>
              <a:t>:</a:t>
            </a:r>
          </a:p>
          <a:p>
            <a:pPr>
              <a:spcAft>
                <a:spcPts val="800"/>
              </a:spcAft>
              <a:defRPr sz="1500">
                <a:solidFill>
                  <a:srgbClr val="024854"/>
                </a:solidFill>
              </a:defRPr>
            </a:pPr>
            <a:r>
              <a:rPr dirty="0"/>
              <a:t>  - </a:t>
            </a:r>
            <a:r>
              <a:rPr dirty="0" err="1"/>
              <a:t>Meteo</a:t>
            </a:r>
            <a:r>
              <a:rPr dirty="0"/>
              <a:t> (15K </a:t>
            </a:r>
            <a:r>
              <a:rPr dirty="0" err="1"/>
              <a:t>righe</a:t>
            </a:r>
            <a:r>
              <a:rPr dirty="0"/>
              <a:t>) - </a:t>
            </a:r>
            <a:r>
              <a:rPr lang="it-IT" sz="1500" dirty="0" err="1"/>
              <a:t>NaN</a:t>
            </a:r>
            <a:r>
              <a:rPr lang="it-IT" sz="1500" dirty="0"/>
              <a:t> in temperature e precipitazioni; fix: imputazione con mediana per (stato, mese), drop duplicati su [state, date]</a:t>
            </a:r>
            <a:r>
              <a:rPr dirty="0"/>
              <a:t> </a:t>
            </a:r>
            <a:endParaRPr lang="it-IT" dirty="0"/>
          </a:p>
          <a:p>
            <a:pPr>
              <a:spcAft>
                <a:spcPts val="800"/>
              </a:spcAft>
              <a:defRPr sz="1500">
                <a:solidFill>
                  <a:srgbClr val="024854"/>
                </a:solidFill>
              </a:defRPr>
            </a:pPr>
            <a:r>
              <a:rPr dirty="0"/>
              <a:t> </a:t>
            </a:r>
            <a:endParaRPr lang="it-IT" dirty="0"/>
          </a:p>
          <a:p>
            <a:pPr>
              <a:spcAft>
                <a:spcPts val="800"/>
              </a:spcAft>
              <a:defRPr sz="1500">
                <a:solidFill>
                  <a:srgbClr val="024854"/>
                </a:solidFill>
              </a:defRPr>
            </a:pPr>
            <a:r>
              <a:rPr dirty="0"/>
              <a:t>- Google Trends (2K </a:t>
            </a:r>
            <a:r>
              <a:rPr dirty="0" err="1"/>
              <a:t>righe</a:t>
            </a:r>
            <a:r>
              <a:rPr dirty="0"/>
              <a:t>) - </a:t>
            </a:r>
            <a:r>
              <a:rPr lang="it-IT" sz="1500" dirty="0"/>
              <a:t>Date in formati misti, valori duplicati per stato/settimana; fix: </a:t>
            </a:r>
            <a:r>
              <a:rPr lang="it-IT" sz="1500" dirty="0" err="1"/>
              <a:t>parsing</a:t>
            </a:r>
            <a:r>
              <a:rPr lang="it-IT" sz="1500" dirty="0"/>
              <a:t> format='mixed', aggregazione media per (state, </a:t>
            </a:r>
            <a:r>
              <a:rPr lang="it-IT" sz="1500" dirty="0" err="1"/>
              <a:t>week_start</a:t>
            </a:r>
            <a:r>
              <a:rPr lang="it-IT" sz="1500" dirty="0"/>
              <a:t>)</a:t>
            </a:r>
          </a:p>
          <a:p>
            <a:pPr>
              <a:spcAft>
                <a:spcPts val="800"/>
              </a:spcAft>
              <a:defRPr sz="1500">
                <a:solidFill>
                  <a:srgbClr val="024854"/>
                </a:solidFill>
              </a:defRPr>
            </a:pPr>
            <a:endParaRPr lang="it-IT" dirty="0"/>
          </a:p>
          <a:p>
            <a:pPr>
              <a:spcAft>
                <a:spcPts val="800"/>
              </a:spcAft>
              <a:defRPr sz="1500">
                <a:solidFill>
                  <a:srgbClr val="024854"/>
                </a:solidFill>
              </a:defRPr>
            </a:pPr>
            <a:r>
              <a:rPr dirty="0"/>
              <a:t> - </a:t>
            </a:r>
            <a:r>
              <a:rPr dirty="0" err="1"/>
              <a:t>Macroeconomico</a:t>
            </a:r>
            <a:r>
              <a:rPr dirty="0"/>
              <a:t> (496 </a:t>
            </a:r>
            <a:r>
              <a:rPr dirty="0" err="1"/>
              <a:t>righe</a:t>
            </a:r>
            <a:r>
              <a:rPr dirty="0"/>
              <a:t>) </a:t>
            </a:r>
            <a:r>
              <a:rPr lang="it-IT" dirty="0"/>
              <a:t>- </a:t>
            </a:r>
            <a:r>
              <a:rPr lang="it-IT" sz="1500" dirty="0"/>
              <a:t>Tassi di disoccupazione negativi, </a:t>
            </a:r>
            <a:r>
              <a:rPr lang="it-IT" sz="1500" dirty="0" err="1"/>
              <a:t>NaN</a:t>
            </a:r>
            <a:r>
              <a:rPr lang="it-IT" sz="1500" dirty="0"/>
              <a:t> in GDP e consumer confidence; fix: </a:t>
            </a:r>
            <a:r>
              <a:rPr lang="it-IT" sz="1500" dirty="0" err="1"/>
              <a:t>abs</a:t>
            </a:r>
            <a:r>
              <a:rPr lang="it-IT" sz="1500" dirty="0"/>
              <a:t>() su </a:t>
            </a:r>
            <a:r>
              <a:rPr lang="it-IT" sz="1500" dirty="0" err="1"/>
              <a:t>unemployment</a:t>
            </a:r>
            <a:r>
              <a:rPr lang="it-IT" sz="1500" dirty="0"/>
              <a:t>, </a:t>
            </a:r>
            <a:r>
              <a:rPr lang="it-IT" sz="1500" dirty="0" err="1"/>
              <a:t>forward</a:t>
            </a:r>
            <a:r>
              <a:rPr lang="it-IT" sz="1500" dirty="0"/>
              <a:t>/</a:t>
            </a:r>
            <a:r>
              <a:rPr lang="it-IT" sz="1500" dirty="0" err="1"/>
              <a:t>backward</a:t>
            </a:r>
            <a:r>
              <a:rPr lang="it-IT" sz="1500" dirty="0"/>
              <a:t> </a:t>
            </a:r>
            <a:r>
              <a:rPr lang="it-IT" sz="1500" dirty="0" err="1"/>
              <a:t>fill</a:t>
            </a:r>
            <a:r>
              <a:rPr lang="it-IT" sz="1500" dirty="0"/>
              <a:t> temporale per GDP e CCI</a:t>
            </a:r>
          </a:p>
          <a:p>
            <a:pPr>
              <a:spcAft>
                <a:spcPts val="800"/>
              </a:spcAft>
              <a:defRPr sz="1500">
                <a:solidFill>
                  <a:srgbClr val="024854"/>
                </a:solidFill>
              </a:defRPr>
            </a:pPr>
            <a:endParaRPr lang="it-IT" sz="1500" dirty="0"/>
          </a:p>
          <a:p>
            <a:pPr>
              <a:spcAft>
                <a:spcPts val="800"/>
              </a:spcAft>
              <a:defRPr sz="1500">
                <a:solidFill>
                  <a:srgbClr val="024854"/>
                </a:solidFill>
              </a:defRPr>
            </a:pPr>
            <a:r>
              <a:rPr dirty="0"/>
              <a:t>  - </a:t>
            </a:r>
            <a:r>
              <a:rPr dirty="0" err="1"/>
              <a:t>Eventi</a:t>
            </a:r>
            <a:r>
              <a:rPr dirty="0"/>
              <a:t> </a:t>
            </a:r>
            <a:r>
              <a:rPr dirty="0" err="1"/>
              <a:t>locali</a:t>
            </a:r>
            <a:r>
              <a:rPr dirty="0"/>
              <a:t> (735 </a:t>
            </a:r>
            <a:r>
              <a:rPr dirty="0" err="1"/>
              <a:t>righe</a:t>
            </a:r>
            <a:r>
              <a:rPr dirty="0"/>
              <a:t>) - </a:t>
            </a:r>
            <a:r>
              <a:rPr lang="it-IT" sz="1500" dirty="0" err="1"/>
              <a:t>NaN</a:t>
            </a:r>
            <a:r>
              <a:rPr lang="it-IT" sz="1500" dirty="0"/>
              <a:t> in </a:t>
            </a:r>
            <a:r>
              <a:rPr lang="it-IT" sz="1500" dirty="0" err="1"/>
              <a:t>event_type</a:t>
            </a:r>
            <a:r>
              <a:rPr lang="it-IT" sz="1500" dirty="0"/>
              <a:t> e </a:t>
            </a:r>
            <a:r>
              <a:rPr lang="it-IT" sz="1500" dirty="0" err="1"/>
              <a:t>date_start</a:t>
            </a:r>
            <a:r>
              <a:rPr lang="it-IT" sz="1500" dirty="0"/>
              <a:t>; fix: </a:t>
            </a:r>
            <a:r>
              <a:rPr lang="it-IT" sz="1500" dirty="0" err="1"/>
              <a:t>dropna</a:t>
            </a:r>
            <a:r>
              <a:rPr lang="it-IT" sz="1500" dirty="0"/>
              <a:t>, conversione in feature binaria </a:t>
            </a:r>
            <a:r>
              <a:rPr lang="it-IT" sz="1500" dirty="0" err="1"/>
              <a:t>has_local_event</a:t>
            </a:r>
            <a:r>
              <a:rPr lang="it-IT" sz="1500" dirty="0"/>
              <a:t> (0/1), </a:t>
            </a:r>
            <a:r>
              <a:rPr lang="it-IT" sz="1500" dirty="0" err="1"/>
              <a:t>fillna</a:t>
            </a:r>
            <a:r>
              <a:rPr lang="it-IT" sz="1500" dirty="0"/>
              <a:t>(0) per giorni senza eventi</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FEATURE ENGINEERING</a:t>
            </a:r>
          </a:p>
        </p:txBody>
      </p:sp>
      <p:pic>
        <p:nvPicPr>
          <p:cNvPr id="5" name="Immagine 4" descr="The diagram represents a feature importance ranking from an XGBoost model, showcasing the relative importance of various attributes like promotions, store sales metrics, and temporal features in predicting a certain outcome.&#10;&#10;Il contenuto generato dall'IA potrebbe non essere corretto.">
            <a:extLst>
              <a:ext uri="{FF2B5EF4-FFF2-40B4-BE49-F238E27FC236}">
                <a16:creationId xmlns:a16="http://schemas.microsoft.com/office/drawing/2014/main" id="{3854AC82-E733-0A7E-998B-DD6E666CB59E}"/>
              </a:ext>
            </a:extLst>
          </p:cNvPr>
          <p:cNvPicPr>
            <a:picLocks noChangeAspect="1"/>
          </p:cNvPicPr>
          <p:nvPr/>
        </p:nvPicPr>
        <p:blipFill>
          <a:blip r:embed="rId2"/>
          <a:stretch>
            <a:fillRect/>
          </a:stretch>
        </p:blipFill>
        <p:spPr>
          <a:xfrm>
            <a:off x="1077576" y="1295368"/>
            <a:ext cx="7042187" cy="5020252"/>
          </a:xfrm>
          <a:prstGeom prst="rect">
            <a:avLst/>
          </a:prstGeom>
        </p:spPr>
      </p:pic>
      <p:pic>
        <p:nvPicPr>
          <p:cNvPr id="6" name="Immagine 5">
            <a:extLst>
              <a:ext uri="{FF2B5EF4-FFF2-40B4-BE49-F238E27FC236}">
                <a16:creationId xmlns:a16="http://schemas.microsoft.com/office/drawing/2014/main" id="{B0F98E8E-E9E3-EC8C-8FD1-DB10470F0B87}"/>
              </a:ext>
            </a:extLst>
          </p:cNvPr>
          <p:cNvPicPr>
            <a:picLocks noChangeAspect="1"/>
          </p:cNvPicPr>
          <p:nvPr/>
        </p:nvPicPr>
        <p:blipFill>
          <a:blip r:embed="rId3"/>
          <a:srcRect t="75248"/>
          <a:stretch>
            <a:fillRect/>
          </a:stretch>
        </p:blipFill>
        <p:spPr>
          <a:xfrm>
            <a:off x="9245889" y="3052506"/>
            <a:ext cx="5054022" cy="7529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058400" cy="731520"/>
          </a:xfrm>
          <a:prstGeom prst="rect">
            <a:avLst/>
          </a:prstGeom>
          <a:noFill/>
        </p:spPr>
        <p:txBody>
          <a:bodyPr wrap="square">
            <a:spAutoFit/>
          </a:bodyPr>
          <a:lstStyle/>
          <a:p>
            <a:pPr algn="l">
              <a:defRPr sz="3200" b="1">
                <a:solidFill>
                  <a:srgbClr val="024854"/>
                </a:solidFill>
              </a:defRPr>
            </a:pPr>
            <a:r>
              <a:t>RAG - SALES ADVISOR</a:t>
            </a:r>
          </a:p>
        </p:txBody>
      </p:sp>
      <p:sp>
        <p:nvSpPr>
          <p:cNvPr id="3" name="TextBox 2"/>
          <p:cNvSpPr txBox="1"/>
          <p:nvPr/>
        </p:nvSpPr>
        <p:spPr>
          <a:xfrm>
            <a:off x="914400" y="1645920"/>
            <a:ext cx="10195560" cy="4914166"/>
          </a:xfrm>
          <a:prstGeom prst="rect">
            <a:avLst/>
          </a:prstGeom>
          <a:noFill/>
        </p:spPr>
        <p:txBody>
          <a:bodyPr wrap="square">
            <a:spAutoFit/>
          </a:bodyPr>
          <a:lstStyle/>
          <a:p>
            <a:pPr>
              <a:spcAft>
                <a:spcPts val="800"/>
              </a:spcAft>
              <a:defRPr sz="1500">
                <a:solidFill>
                  <a:srgbClr val="024854"/>
                </a:solidFill>
              </a:defRPr>
            </a:pPr>
            <a:r>
              <a:rPr dirty="0" err="1"/>
              <a:t>Architettura</a:t>
            </a:r>
            <a:r>
              <a:rPr dirty="0"/>
              <a:t> RAG:</a:t>
            </a:r>
          </a:p>
          <a:p>
            <a:pPr>
              <a:spcAft>
                <a:spcPts val="800"/>
              </a:spcAft>
              <a:defRPr sz="1500">
                <a:solidFill>
                  <a:srgbClr val="024854"/>
                </a:solidFill>
              </a:defRPr>
            </a:pPr>
            <a:r>
              <a:rPr dirty="0"/>
              <a:t>  - Vector Store: </a:t>
            </a:r>
            <a:r>
              <a:rPr lang="it-IT" sz="1500" dirty="0"/>
              <a:t>FAISS (locale, salvato in data/</a:t>
            </a:r>
            <a:r>
              <a:rPr lang="it-IT" sz="1500" dirty="0" err="1"/>
              <a:t>faiss_index</a:t>
            </a:r>
            <a:r>
              <a:rPr lang="it-IT" sz="1500" dirty="0"/>
              <a:t>)</a:t>
            </a:r>
          </a:p>
          <a:p>
            <a:pPr>
              <a:spcAft>
                <a:spcPts val="800"/>
              </a:spcAft>
              <a:defRPr sz="1500">
                <a:solidFill>
                  <a:srgbClr val="024854"/>
                </a:solidFill>
              </a:defRPr>
            </a:pPr>
            <a:r>
              <a:rPr dirty="0"/>
              <a:t> </a:t>
            </a:r>
            <a:endParaRPr lang="it-IT" dirty="0"/>
          </a:p>
          <a:p>
            <a:pPr>
              <a:spcAft>
                <a:spcPts val="800"/>
              </a:spcAft>
              <a:defRPr sz="1500">
                <a:solidFill>
                  <a:srgbClr val="024854"/>
                </a:solidFill>
              </a:defRPr>
            </a:pPr>
            <a:r>
              <a:rPr dirty="0"/>
              <a:t> - Embeddings: </a:t>
            </a:r>
            <a:r>
              <a:rPr lang="it-IT" sz="1500" dirty="0"/>
              <a:t>Amazon </a:t>
            </a:r>
            <a:r>
              <a:rPr lang="it-IT" sz="1500" dirty="0" err="1"/>
              <a:t>Titan</a:t>
            </a:r>
            <a:r>
              <a:rPr lang="it-IT" sz="1500" dirty="0"/>
              <a:t> </a:t>
            </a:r>
            <a:r>
              <a:rPr lang="it-IT" sz="1500" dirty="0" err="1"/>
              <a:t>Embed</a:t>
            </a:r>
            <a:r>
              <a:rPr lang="it-IT" sz="1500" dirty="0"/>
              <a:t> Text v2 (amazon.titan-embed-text-v2:0, </a:t>
            </a:r>
            <a:r>
              <a:rPr lang="it-IT" sz="1500" dirty="0" err="1"/>
              <a:t>Bedrock</a:t>
            </a:r>
            <a:r>
              <a:rPr lang="it-IT" sz="1500" dirty="0"/>
              <a:t> eu-west-1)</a:t>
            </a:r>
          </a:p>
          <a:p>
            <a:pPr>
              <a:spcAft>
                <a:spcPts val="800"/>
              </a:spcAft>
              <a:defRPr sz="1500">
                <a:solidFill>
                  <a:srgbClr val="024854"/>
                </a:solidFill>
              </a:defRPr>
            </a:pPr>
            <a:r>
              <a:rPr dirty="0"/>
              <a:t> </a:t>
            </a:r>
            <a:endParaRPr lang="it-IT" dirty="0"/>
          </a:p>
          <a:p>
            <a:pPr>
              <a:spcAft>
                <a:spcPts val="800"/>
              </a:spcAft>
              <a:defRPr sz="1500">
                <a:solidFill>
                  <a:srgbClr val="024854"/>
                </a:solidFill>
              </a:defRPr>
            </a:pPr>
            <a:r>
              <a:rPr dirty="0"/>
              <a:t> - LLM: </a:t>
            </a:r>
            <a:r>
              <a:rPr lang="it-IT" sz="1500" dirty="0"/>
              <a:t>Amazon Nova Pro (eu.amazon.nova-pro-v1:0, </a:t>
            </a:r>
            <a:r>
              <a:rPr lang="it-IT" sz="1500" dirty="0" err="1"/>
              <a:t>Bedrock</a:t>
            </a:r>
            <a:r>
              <a:rPr lang="it-IT" sz="1500" dirty="0"/>
              <a:t> eu-west-1, temperature=0)</a:t>
            </a:r>
          </a:p>
          <a:p>
            <a:pPr>
              <a:spcAft>
                <a:spcPts val="800"/>
              </a:spcAft>
              <a:defRPr sz="1500">
                <a:solidFill>
                  <a:srgbClr val="024854"/>
                </a:solidFill>
              </a:defRPr>
            </a:pPr>
            <a:r>
              <a:rPr dirty="0"/>
              <a:t> </a:t>
            </a:r>
            <a:endParaRPr lang="it-IT" dirty="0"/>
          </a:p>
          <a:p>
            <a:pPr>
              <a:spcAft>
                <a:spcPts val="800"/>
              </a:spcAft>
              <a:defRPr sz="1500">
                <a:solidFill>
                  <a:srgbClr val="024854"/>
                </a:solidFill>
              </a:defRPr>
            </a:pPr>
            <a:r>
              <a:rPr dirty="0"/>
              <a:t> - Chunking strategy: </a:t>
            </a:r>
            <a:r>
              <a:rPr lang="it-IT" sz="1500" dirty="0"/>
              <a:t>1 documento per store (1.115 documenti totali) — ogni documento contiene le statistiche strutturate del negozio: vendite medie, vendite per giorno della settimana, per mese, promozioni, meteo, macro-economia. Nessun splitting tradizionale: ogni store = 1 </a:t>
            </a:r>
            <a:r>
              <a:rPr lang="it-IT" sz="1500" dirty="0" err="1"/>
              <a:t>chunk</a:t>
            </a:r>
            <a:r>
              <a:rPr lang="it-IT" sz="1500" dirty="0"/>
              <a:t> semanticamente completo</a:t>
            </a:r>
          </a:p>
          <a:p>
            <a:pPr>
              <a:spcAft>
                <a:spcPts val="800"/>
              </a:spcAft>
              <a:defRPr sz="1500">
                <a:solidFill>
                  <a:srgbClr val="024854"/>
                </a:solidFill>
              </a:defRPr>
            </a:pPr>
            <a:endParaRPr dirty="0"/>
          </a:p>
          <a:p>
            <a:pPr>
              <a:spcAft>
                <a:spcPts val="800"/>
              </a:spcAft>
              <a:defRPr sz="1500">
                <a:solidFill>
                  <a:srgbClr val="024854"/>
                </a:solidFill>
              </a:defRPr>
            </a:pPr>
            <a:r>
              <a:rPr dirty="0" err="1"/>
              <a:t>Esempio</a:t>
            </a:r>
            <a:r>
              <a:rPr dirty="0"/>
              <a:t> di </a:t>
            </a:r>
            <a:r>
              <a:rPr dirty="0" err="1"/>
              <a:t>interazione</a:t>
            </a:r>
            <a:r>
              <a:rPr dirty="0"/>
              <a:t>:</a:t>
            </a:r>
          </a:p>
          <a:p>
            <a:pPr>
              <a:spcAft>
                <a:spcPts val="800"/>
              </a:spcAft>
              <a:defRPr sz="1500">
                <a:solidFill>
                  <a:srgbClr val="024854"/>
                </a:solidFill>
              </a:defRPr>
            </a:pPr>
            <a:r>
              <a:rPr dirty="0"/>
              <a:t>  Q: "Perche il </a:t>
            </a:r>
            <a:r>
              <a:rPr dirty="0" err="1"/>
              <a:t>negozio</a:t>
            </a:r>
            <a:r>
              <a:rPr dirty="0"/>
              <a:t> 42 </a:t>
            </a:r>
            <a:r>
              <a:rPr dirty="0" err="1"/>
              <a:t>vende</a:t>
            </a:r>
            <a:r>
              <a:rPr dirty="0"/>
              <a:t> poco il </a:t>
            </a:r>
            <a:r>
              <a:rPr dirty="0" err="1"/>
              <a:t>lunedi</a:t>
            </a:r>
            <a:r>
              <a:rPr dirty="0"/>
              <a:t>?"</a:t>
            </a:r>
          </a:p>
          <a:p>
            <a:pPr>
              <a:spcAft>
                <a:spcPts val="800"/>
              </a:spcAft>
              <a:defRPr sz="1500">
                <a:solidFill>
                  <a:srgbClr val="024854"/>
                </a:solidFill>
              </a:defRPr>
            </a:pPr>
            <a:r>
              <a:rPr dirty="0"/>
              <a:t>  A: </a:t>
            </a:r>
            <a:r>
              <a:rPr lang="it-IT" sz="1500" dirty="0"/>
              <a:t>In base al contesto fornito, lo Store ID 42 ha il suo giorno di vendita più alto il lunedì con una media di 11.925 vendite, non il più basso. Il giorno con le vendite più basse è il sabato con una media di 8.403 vendite. </a:t>
            </a:r>
            <a:r>
              <a:rPr lang="it-IT" sz="1500"/>
              <a:t>Pertanto, il negozio vende di più il lunedì rispetto ad altri giorni della settimana.</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4854"/>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1828800"/>
          </a:xfrm>
          <a:prstGeom prst="rect">
            <a:avLst/>
          </a:prstGeom>
          <a:noFill/>
        </p:spPr>
        <p:txBody>
          <a:bodyPr wrap="square">
            <a:spAutoFit/>
          </a:bodyPr>
          <a:lstStyle/>
          <a:p>
            <a:pPr algn="ctr">
              <a:defRPr sz="4400" b="1">
                <a:solidFill>
                  <a:srgbClr val="FFFFFF"/>
                </a:solidFill>
              </a:defRPr>
            </a:pPr>
            <a:r>
              <a:t>DEMO (OPZIONALE)</a:t>
            </a:r>
          </a:p>
        </p:txBody>
      </p:sp>
      <p:sp>
        <p:nvSpPr>
          <p:cNvPr id="3" name="TextBox 2"/>
          <p:cNvSpPr txBox="1"/>
          <p:nvPr/>
        </p:nvSpPr>
        <p:spPr>
          <a:xfrm>
            <a:off x="914400" y="4114800"/>
            <a:ext cx="10058400" cy="914400"/>
          </a:xfrm>
          <a:prstGeom prst="rect">
            <a:avLst/>
          </a:prstGeom>
          <a:noFill/>
        </p:spPr>
        <p:txBody>
          <a:bodyPr wrap="square">
            <a:spAutoFit/>
          </a:bodyPr>
          <a:lstStyle/>
          <a:p>
            <a:pPr algn="ctr">
              <a:defRPr sz="1800" b="0">
                <a:solidFill>
                  <a:srgbClr val="CAD405"/>
                </a:solidFill>
              </a:defRPr>
            </a:pPr>
            <a:r>
              <a:t>[Mostrare il flusso end-to-end: ingestion -&gt; prediction -&gt; RAG]</a:t>
            </a:r>
          </a:p>
          <a:p>
            <a:pPr algn="ctr">
              <a:defRPr sz="1400" b="0">
                <a:solidFill>
                  <a:srgbClr val="FFFFFF"/>
                </a:solidFill>
              </a:defRPr>
            </a:pPr>
            <a:r>
              <a:t>La demo è facoltativa e non contribuisce al punteggio finale.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4854"/>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1371600"/>
          </a:xfrm>
          <a:prstGeom prst="rect">
            <a:avLst/>
          </a:prstGeom>
          <a:noFill/>
        </p:spPr>
        <p:txBody>
          <a:bodyPr wrap="square">
            <a:spAutoFit/>
          </a:bodyPr>
          <a:lstStyle/>
          <a:p>
            <a:pPr algn="ctr">
              <a:defRPr sz="4800" b="1">
                <a:solidFill>
                  <a:srgbClr val="FFFFFF"/>
                </a:solidFill>
              </a:defRPr>
            </a:pPr>
            <a:r>
              <a:t>GRAZIE!</a:t>
            </a:r>
          </a:p>
        </p:txBody>
      </p:sp>
      <p:sp>
        <p:nvSpPr>
          <p:cNvPr id="3" name="TextBox 2"/>
          <p:cNvSpPr txBox="1"/>
          <p:nvPr/>
        </p:nvSpPr>
        <p:spPr>
          <a:xfrm>
            <a:off x="914400" y="3474720"/>
            <a:ext cx="10058400" cy="461665"/>
          </a:xfrm>
          <a:prstGeom prst="rect">
            <a:avLst/>
          </a:prstGeom>
          <a:noFill/>
        </p:spPr>
        <p:txBody>
          <a:bodyPr wrap="square">
            <a:spAutoFit/>
          </a:bodyPr>
          <a:lstStyle/>
          <a:p>
            <a:pPr algn="ctr">
              <a:defRPr sz="2400" b="0">
                <a:solidFill>
                  <a:srgbClr val="CAD405"/>
                </a:solidFill>
              </a:defRPr>
            </a:pPr>
            <a:r>
              <a:rPr dirty="0"/>
              <a:t>Team </a:t>
            </a:r>
            <a:r>
              <a:rPr lang="it-IT" dirty="0"/>
              <a:t>04</a:t>
            </a:r>
            <a:endParaRPr dirty="0"/>
          </a:p>
        </p:txBody>
      </p:sp>
      <p:sp>
        <p:nvSpPr>
          <p:cNvPr id="4" name="TextBox 3"/>
          <p:cNvSpPr txBox="1"/>
          <p:nvPr/>
        </p:nvSpPr>
        <p:spPr>
          <a:xfrm>
            <a:off x="914400" y="4572000"/>
            <a:ext cx="10058400" cy="914400"/>
          </a:xfrm>
          <a:prstGeom prst="rect">
            <a:avLst/>
          </a:prstGeom>
          <a:noFill/>
        </p:spPr>
        <p:txBody>
          <a:bodyPr wrap="square">
            <a:spAutoFit/>
          </a:bodyPr>
          <a:lstStyle/>
          <a:p>
            <a:pPr algn="ctr">
              <a:defRPr sz="2000" b="0">
                <a:solidFill>
                  <a:srgbClr val="FFFFFF"/>
                </a:solidFill>
              </a:defRPr>
            </a:pPr>
            <a:r>
              <a:t>Domande?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TotalTime>
  <Words>560</Words>
  <Application>Microsoft Office PowerPoint</Application>
  <PresentationFormat>Widescreen</PresentationFormat>
  <Paragraphs>52</Paragraphs>
  <Slides>9</Slides>
  <Notes>0</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9</vt:i4>
      </vt:variant>
    </vt:vector>
  </HeadingPairs>
  <TitlesOfParts>
    <vt:vector size="12" baseType="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Geard Koci</cp:lastModifiedBy>
  <cp:revision>3</cp:revision>
  <dcterms:created xsi:type="dcterms:W3CDTF">2013-01-27T09:14:16Z</dcterms:created>
  <dcterms:modified xsi:type="dcterms:W3CDTF">2026-03-20T17:38:59Z</dcterms:modified>
  <cp:category/>
</cp:coreProperties>
</file>