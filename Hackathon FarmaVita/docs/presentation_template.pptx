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5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FARMAVITA STORE SALES PREDICTOR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3B82F6"/>
                </a:solidFill>
              </a:defRPr>
            </a:pPr>
            <a:r>
              <a:t>Team [NOME_TEAM]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</a:defRPr>
            </a:pPr>
            <a:r>
              <a:t>AI Coding Tool: [NOME_TOOL]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486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7280"/>
                </a:solidFill>
              </a:defRPr>
            </a:pPr>
            <a:r>
              <a:t>Hackathon 2026 - AI Coding Tools Challenge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235B"/>
                </a:solidFill>
              </a:defRPr>
            </a:pPr>
            <a: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9144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A235B"/>
                </a:solidFill>
              </a:defRPr>
            </a:pPr>
            <a:r>
              <a:t>1. Il problema e l'approccio</a:t>
            </a:r>
          </a:p>
          <a:p>
            <a:pPr>
              <a:spcAft>
                <a:spcPts val="800"/>
              </a:spcAft>
              <a:defRPr sz="2000">
                <a:solidFill>
                  <a:srgbClr val="1A235B"/>
                </a:solidFill>
              </a:defRPr>
            </a:pPr>
            <a:r>
              <a:t>2. Architettura della soluzione</a:t>
            </a:r>
          </a:p>
          <a:p>
            <a:pPr>
              <a:spcAft>
                <a:spcPts val="800"/>
              </a:spcAft>
              <a:defRPr sz="2000">
                <a:solidFill>
                  <a:srgbClr val="1A235B"/>
                </a:solidFill>
              </a:defRPr>
            </a:pPr>
            <a:r>
              <a:t>3. Data Augmentation e pulizia dati</a:t>
            </a:r>
          </a:p>
          <a:p>
            <a:pPr>
              <a:spcAft>
                <a:spcPts val="800"/>
              </a:spcAft>
              <a:defRPr sz="2000">
                <a:solidFill>
                  <a:srgbClr val="1A235B"/>
                </a:solidFill>
              </a:defRPr>
            </a:pPr>
            <a:r>
              <a:t>4. Feature Engineering</a:t>
            </a:r>
          </a:p>
          <a:p>
            <a:pPr>
              <a:spcAft>
                <a:spcPts val="800"/>
              </a:spcAft>
              <a:defRPr sz="2000">
                <a:solidFill>
                  <a:srgbClr val="1A235B"/>
                </a:solidFill>
              </a:defRPr>
            </a:pPr>
            <a:r>
              <a:t>5. Modello ML e risultati</a:t>
            </a:r>
          </a:p>
          <a:p>
            <a:pPr>
              <a:spcAft>
                <a:spcPts val="800"/>
              </a:spcAft>
              <a:defRPr sz="2000">
                <a:solidFill>
                  <a:srgbClr val="1A235B"/>
                </a:solidFill>
              </a:defRPr>
            </a:pPr>
            <a:r>
              <a:t>6. RAG - Sales Advisor</a:t>
            </a:r>
          </a:p>
          <a:p>
            <a:pPr>
              <a:spcAft>
                <a:spcPts val="800"/>
              </a:spcAft>
              <a:defRPr sz="2000">
                <a:solidFill>
                  <a:srgbClr val="1A235B"/>
                </a:solidFill>
              </a:defRPr>
            </a:pPr>
            <a:r>
              <a:t>7. Demo live</a:t>
            </a:r>
          </a:p>
          <a:p>
            <a:pPr>
              <a:spcAft>
                <a:spcPts val="800"/>
              </a:spcAft>
              <a:defRPr sz="2000">
                <a:solidFill>
                  <a:srgbClr val="1A235B"/>
                </a:solidFill>
              </a:defRPr>
            </a:pPr>
            <a:r>
              <a:t>8. Analisi critica e lesson learned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235B"/>
                </a:solidFill>
              </a:defRPr>
            </a:pPr>
            <a:r>
              <a:t>IL PROBLEMA E L'APPROCCIO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A235B"/>
                </a:solidFill>
              </a:defRPr>
            </a:pPr>
            <a:r>
              <a:t>Predire le vendite giornaliere di 1.115 negozi FarmaVita</a:t>
            </a:r>
          </a:p>
          <a:p>
            <a:pPr>
              <a:spcAft>
                <a:spcPts val="800"/>
              </a:spcAft>
              <a:defRPr sz="1600">
                <a:solidFill>
                  <a:srgbClr val="1A235B"/>
                </a:solidFill>
              </a:defRPr>
            </a:pPr>
            <a:r>
              <a:t>Dataset: ~1M righe, gen 2013 - lug 2015</a:t>
            </a:r>
          </a:p>
          <a:p>
            <a:pPr>
              <a:spcAft>
                <a:spcPts val="800"/>
              </a:spcAft>
              <a:defRPr sz="1600">
                <a:solidFill>
                  <a:srgbClr val="1A235B"/>
                </a:solidFill>
              </a:defRPr>
            </a:pPr>
            <a:r>
              <a:t>Metrica: RMSPE (Root Mean Square Percentage Error)</a:t>
            </a:r>
          </a:p>
          <a:p>
            <a:pPr>
              <a:spcAft>
                <a:spcPts val="800"/>
              </a:spcAft>
              <a:defRPr sz="1600">
                <a:solidFill>
                  <a:srgbClr val="1A235B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A235B"/>
                </a:solidFill>
              </a:defRPr>
            </a:pPr>
            <a:r>
              <a:t>Il nostro approccio:</a:t>
            </a:r>
          </a:p>
          <a:p>
            <a:pPr>
              <a:spcAft>
                <a:spcPts val="800"/>
              </a:spcAft>
              <a:defRPr sz="1600">
                <a:solidFill>
                  <a:srgbClr val="1A235B"/>
                </a:solidFill>
              </a:defRPr>
            </a:pPr>
            <a:r>
              <a:t>  - [Descrivere approccio scelto]</a:t>
            </a:r>
          </a:p>
          <a:p>
            <a:pPr>
              <a:spcAft>
                <a:spcPts val="800"/>
              </a:spcAft>
              <a:defRPr sz="1600">
                <a:solidFill>
                  <a:srgbClr val="1A235B"/>
                </a:solidFill>
              </a:defRPr>
            </a:pPr>
            <a:r>
              <a:t>  - [Regressione / Classification / Time Series]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64592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7280"/>
                </a:solidFill>
              </a:defRPr>
            </a:pPr>
            <a:r>
              <a:t>[Inserire schema/diagramma dell'approccio]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235B"/>
                </a:solidFill>
              </a:defRPr>
            </a:pPr>
            <a:r>
              <a:t>ARCHITETTURA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B7280"/>
                </a:solidFill>
              </a:defRPr>
            </a:pPr>
            <a:r>
              <a:t>[Inserire diagramma architettura end-to-end]</a:t>
            </a:r>
            <a:br/>
            <a:br/>
            <a:r>
              <a:t>PostgreSQL -&gt; Processing -&gt; Feature Eng. -&gt; Training -&gt; API -&gt; RAG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235B"/>
                </a:solidFill>
              </a:defRPr>
            </a:pPr>
            <a:r>
              <a:t>DATA AUGMENTATION E PULIZIA DATI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A235B"/>
                </a:solidFill>
              </a:defRPr>
            </a:pPr>
            <a:r>
              <a:t>Dataset di arricchimento utilizzati:</a:t>
            </a:r>
          </a:p>
          <a:p>
            <a:pPr>
              <a:spcAft>
                <a:spcPts val="800"/>
              </a:spcAft>
              <a:defRPr sz="1500">
                <a:solidFill>
                  <a:srgbClr val="1A235B"/>
                </a:solidFill>
              </a:defRPr>
            </a:pPr>
            <a:r>
              <a:t>  - Meteo (15K righe) - [problemi trovati e fix]</a:t>
            </a:r>
          </a:p>
          <a:p>
            <a:pPr>
              <a:spcAft>
                <a:spcPts val="800"/>
              </a:spcAft>
              <a:defRPr sz="1500">
                <a:solidFill>
                  <a:srgbClr val="1A235B"/>
                </a:solidFill>
              </a:defRPr>
            </a:pPr>
            <a:r>
              <a:t>  - Google Trends (2K righe) - [problemi trovati e fix]</a:t>
            </a:r>
          </a:p>
          <a:p>
            <a:pPr>
              <a:spcAft>
                <a:spcPts val="800"/>
              </a:spcAft>
              <a:defRPr sz="1500">
                <a:solidFill>
                  <a:srgbClr val="1A235B"/>
                </a:solidFill>
              </a:defRPr>
            </a:pPr>
            <a:r>
              <a:t>  - Macroeconomico (496 righe) - [problemi trovati e fix]</a:t>
            </a:r>
          </a:p>
          <a:p>
            <a:pPr>
              <a:spcAft>
                <a:spcPts val="800"/>
              </a:spcAft>
              <a:defRPr sz="1500">
                <a:solidFill>
                  <a:srgbClr val="1A235B"/>
                </a:solidFill>
              </a:defRPr>
            </a:pPr>
            <a:r>
              <a:t>  - Eventi locali (735 righe) - [problemi trovati e fix]</a:t>
            </a:r>
          </a:p>
          <a:p>
            <a:pPr>
              <a:spcAft>
                <a:spcPts val="800"/>
              </a:spcAft>
              <a:defRPr sz="1500">
                <a:solidFill>
                  <a:srgbClr val="1A235B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1A235B"/>
                </a:solidFill>
              </a:defRPr>
            </a:pPr>
            <a:r>
              <a:t>Impatto su RMSPE:</a:t>
            </a:r>
          </a:p>
          <a:p>
            <a:pPr>
              <a:spcAft>
                <a:spcPts val="800"/>
              </a:spcAft>
              <a:defRPr sz="1500">
                <a:solidFill>
                  <a:srgbClr val="1A235B"/>
                </a:solidFill>
              </a:defRPr>
            </a:pPr>
            <a:r>
              <a:t>  - Senza augmentation: [RMSPE]</a:t>
            </a:r>
          </a:p>
          <a:p>
            <a:pPr>
              <a:spcAft>
                <a:spcPts val="800"/>
              </a:spcAft>
              <a:defRPr sz="1500">
                <a:solidFill>
                  <a:srgbClr val="1A235B"/>
                </a:solidFill>
              </a:defRPr>
            </a:pPr>
            <a:r>
              <a:t>  - Con augmentation: [RMSPE]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235B"/>
                </a:solidFill>
              </a:defRPr>
            </a:pPr>
            <a:r>
              <a:t>FEATURE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A235B"/>
                </a:solidFill>
              </a:defRPr>
            </a:pPr>
            <a:r>
              <a:t>Feature create: [N] totali</a:t>
            </a:r>
          </a:p>
          <a:p>
            <a:pPr>
              <a:spcAft>
                <a:spcPts val="800"/>
              </a:spcAft>
              <a:defRPr sz="1600">
                <a:solidFill>
                  <a:srgbClr val="1A235B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A235B"/>
                </a:solidFill>
              </a:defRPr>
            </a:pPr>
            <a:r>
              <a:t>Top feature per importanza:</a:t>
            </a:r>
          </a:p>
          <a:p>
            <a:pPr>
              <a:spcAft>
                <a:spcPts val="800"/>
              </a:spcAft>
              <a:defRPr sz="1600">
                <a:solidFill>
                  <a:srgbClr val="1A235B"/>
                </a:solidFill>
              </a:defRPr>
            </a:pPr>
            <a:r>
              <a:t>  1. [feature] - [razionale]</a:t>
            </a:r>
          </a:p>
          <a:p>
            <a:pPr>
              <a:spcAft>
                <a:spcPts val="800"/>
              </a:spcAft>
              <a:defRPr sz="1600">
                <a:solidFill>
                  <a:srgbClr val="1A235B"/>
                </a:solidFill>
              </a:defRPr>
            </a:pPr>
            <a:r>
              <a:t>  2. [feature] - [razionale]</a:t>
            </a:r>
          </a:p>
          <a:p>
            <a:pPr>
              <a:spcAft>
                <a:spcPts val="800"/>
              </a:spcAft>
              <a:defRPr sz="1600">
                <a:solidFill>
                  <a:srgbClr val="1A235B"/>
                </a:solidFill>
              </a:defRPr>
            </a:pPr>
            <a:r>
              <a:t>  3. [feature] - [razionale]</a:t>
            </a:r>
          </a:p>
          <a:p>
            <a:pPr>
              <a:spcAft>
                <a:spcPts val="800"/>
              </a:spcAft>
              <a:defRPr sz="1600">
                <a:solidFill>
                  <a:srgbClr val="1A235B"/>
                </a:solidFill>
              </a:defRPr>
            </a:pPr>
            <a:r>
              <a:t>  4. [feature] - [razionale]</a:t>
            </a:r>
          </a:p>
          <a:p>
            <a:pPr>
              <a:spcAft>
                <a:spcPts val="800"/>
              </a:spcAft>
              <a:defRPr sz="1600">
                <a:solidFill>
                  <a:srgbClr val="1A235B"/>
                </a:solidFill>
              </a:defRPr>
            </a:pPr>
            <a:r>
              <a:t>  5. [feature] - [razionale]</a:t>
            </a:r>
          </a:p>
          <a:p>
            <a:pPr>
              <a:spcAft>
                <a:spcPts val="800"/>
              </a:spcAft>
              <a:defRPr sz="1600">
                <a:solidFill>
                  <a:srgbClr val="1A235B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A235B"/>
                </a:solidFill>
              </a:defRPr>
            </a:pPr>
            <a:r>
              <a:t>[Inserire grafico feature importance]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235B"/>
                </a:solidFill>
              </a:defRPr>
            </a:pPr>
            <a:r>
              <a:t>MODELLO ML E RISULTATI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A235B"/>
                </a:solidFill>
              </a:defRPr>
            </a:pPr>
            <a:r>
              <a:t>Modelli testati:</a:t>
            </a:r>
          </a:p>
          <a:p>
            <a:pPr>
              <a:spcAft>
                <a:spcPts val="800"/>
              </a:spcAft>
              <a:defRPr sz="1500">
                <a:solidFill>
                  <a:srgbClr val="1A235B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1A235B"/>
                </a:solidFill>
              </a:defRPr>
            </a:pPr>
            <a:r>
              <a:t>  | Modello      | RMSPE  | MAE    | R2   |</a:t>
            </a:r>
          </a:p>
          <a:p>
            <a:pPr>
              <a:spcAft>
                <a:spcPts val="800"/>
              </a:spcAft>
              <a:defRPr sz="1500">
                <a:solidFill>
                  <a:srgbClr val="1A235B"/>
                </a:solidFill>
              </a:defRPr>
            </a:pPr>
            <a:r>
              <a:t>  |------------- |--------|--------|------|</a:t>
            </a:r>
          </a:p>
          <a:p>
            <a:pPr>
              <a:spcAft>
                <a:spcPts val="800"/>
              </a:spcAft>
              <a:defRPr sz="1500">
                <a:solidFill>
                  <a:srgbClr val="1A235B"/>
                </a:solidFill>
              </a:defRPr>
            </a:pPr>
            <a:r>
              <a:t>  | [modello 1]  | [val]  | [val]  | [val]|</a:t>
            </a:r>
          </a:p>
          <a:p>
            <a:pPr>
              <a:spcAft>
                <a:spcPts val="800"/>
              </a:spcAft>
              <a:defRPr sz="1500">
                <a:solidFill>
                  <a:srgbClr val="1A235B"/>
                </a:solidFill>
              </a:defRPr>
            </a:pPr>
            <a:r>
              <a:t>  | [modello 2]  | [val]  | [val]  | [val]|</a:t>
            </a:r>
          </a:p>
          <a:p>
            <a:pPr>
              <a:spcAft>
                <a:spcPts val="800"/>
              </a:spcAft>
              <a:defRPr sz="1500">
                <a:solidFill>
                  <a:srgbClr val="1A235B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1A235B"/>
                </a:solidFill>
              </a:defRPr>
            </a:pPr>
            <a:r>
              <a:t>Modello finale: [nome]</a:t>
            </a:r>
          </a:p>
          <a:p>
            <a:pPr>
              <a:spcAft>
                <a:spcPts val="800"/>
              </a:spcAft>
              <a:defRPr sz="1500">
                <a:solidFill>
                  <a:srgbClr val="1A235B"/>
                </a:solidFill>
              </a:defRPr>
            </a:pPr>
            <a:r>
              <a:t>RMSPE finale: [valore]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235B"/>
                </a:solidFill>
              </a:defRPr>
            </a:pPr>
            <a:r>
              <a:t>RAG - SALES ADVISOR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A235B"/>
                </a:solidFill>
              </a:defRPr>
            </a:pPr>
            <a:r>
              <a:t>Architettura RAG:</a:t>
            </a:r>
          </a:p>
          <a:p>
            <a:pPr>
              <a:spcAft>
                <a:spcPts val="800"/>
              </a:spcAft>
              <a:defRPr sz="1500">
                <a:solidFill>
                  <a:srgbClr val="1A235B"/>
                </a:solidFill>
              </a:defRPr>
            </a:pPr>
            <a:r>
              <a:t>  - Vector Store: [FAISS / OpenSearch / pgvector]</a:t>
            </a:r>
          </a:p>
          <a:p>
            <a:pPr>
              <a:spcAft>
                <a:spcPts val="800"/>
              </a:spcAft>
              <a:defRPr sz="1500">
                <a:solidFill>
                  <a:srgbClr val="1A235B"/>
                </a:solidFill>
              </a:defRPr>
            </a:pPr>
            <a:r>
              <a:t>  - Embeddings: [Titan / altro]</a:t>
            </a:r>
          </a:p>
          <a:p>
            <a:pPr>
              <a:spcAft>
                <a:spcPts val="800"/>
              </a:spcAft>
              <a:defRPr sz="1500">
                <a:solidFill>
                  <a:srgbClr val="1A235B"/>
                </a:solidFill>
              </a:defRPr>
            </a:pPr>
            <a:r>
              <a:t>  - LLM: [Claude / altro su Bedrock]</a:t>
            </a:r>
          </a:p>
          <a:p>
            <a:pPr>
              <a:spcAft>
                <a:spcPts val="800"/>
              </a:spcAft>
              <a:defRPr sz="1500">
                <a:solidFill>
                  <a:srgbClr val="1A235B"/>
                </a:solidFill>
              </a:defRPr>
            </a:pPr>
            <a:r>
              <a:t>  - Chunking strategy: [descrizione]</a:t>
            </a:r>
          </a:p>
          <a:p>
            <a:pPr>
              <a:spcAft>
                <a:spcPts val="800"/>
              </a:spcAft>
              <a:defRPr sz="1500">
                <a:solidFill>
                  <a:srgbClr val="1A235B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1A235B"/>
                </a:solidFill>
              </a:defRPr>
            </a:pPr>
            <a:r>
              <a:t>Esempio di interazione:</a:t>
            </a:r>
          </a:p>
          <a:p>
            <a:pPr>
              <a:spcAft>
                <a:spcPts val="800"/>
              </a:spcAft>
              <a:defRPr sz="1500">
                <a:solidFill>
                  <a:srgbClr val="1A235B"/>
                </a:solidFill>
              </a:defRPr>
            </a:pPr>
            <a:r>
              <a:t>  Q: "Perche il negozio 42 vende poco il lunedi?"</a:t>
            </a:r>
          </a:p>
          <a:p>
            <a:pPr>
              <a:spcAft>
                <a:spcPts val="800"/>
              </a:spcAft>
              <a:defRPr sz="1500">
                <a:solidFill>
                  <a:srgbClr val="1A235B"/>
                </a:solidFill>
              </a:defRPr>
            </a:pPr>
            <a:r>
              <a:t>  A: [risposta del sistema]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5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DEMO (OPZIONALE)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3B82F6"/>
                </a:solidFill>
              </a:defRPr>
            </a:pPr>
            <a:r>
              <a:t>[Mostrare il flusso end-to-end: ingestion -&gt; prediction -&gt; RAG]</a:t>
            </a:r>
          </a:p>
          <a:p>
            <a:pPr algn="ctr">
              <a:defRPr sz="1400" b="0">
                <a:solidFill>
                  <a:srgbClr val="FFFFFF"/>
                </a:solidFill>
              </a:defRPr>
            </a:pPr>
            <a:r>
              <a:t>La demo è facoltativa e non contribuisce al punteggio finale.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235B"/>
                </a:solidFill>
              </a:defRPr>
            </a:pPr>
            <a:r>
              <a:t>ANALISI CRITICA E LESSON LEARNED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A235B"/>
                </a:solidFill>
              </a:defRPr>
            </a:pPr>
            <a:r>
              <a:t>Cosa ha funzionato bene:</a:t>
            </a:r>
          </a:p>
          <a:p>
            <a:pPr>
              <a:spcAft>
                <a:spcPts val="800"/>
              </a:spcAft>
              <a:defRPr sz="1600">
                <a:solidFill>
                  <a:srgbClr val="1A235B"/>
                </a:solidFill>
              </a:defRPr>
            </a:pPr>
            <a:r>
              <a:t>  - [punto 1]</a:t>
            </a:r>
          </a:p>
          <a:p>
            <a:pPr>
              <a:spcAft>
                <a:spcPts val="800"/>
              </a:spcAft>
              <a:defRPr sz="1600">
                <a:solidFill>
                  <a:srgbClr val="1A235B"/>
                </a:solidFill>
              </a:defRPr>
            </a:pPr>
            <a:r>
              <a:t>  - [punto 2]</a:t>
            </a:r>
          </a:p>
          <a:p>
            <a:pPr>
              <a:spcAft>
                <a:spcPts val="800"/>
              </a:spcAft>
              <a:defRPr sz="1600">
                <a:solidFill>
                  <a:srgbClr val="1A235B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A235B"/>
                </a:solidFill>
              </a:defRPr>
            </a:pPr>
            <a:r>
              <a:t>Cosa non ha funzionato:</a:t>
            </a:r>
          </a:p>
          <a:p>
            <a:pPr>
              <a:spcAft>
                <a:spcPts val="800"/>
              </a:spcAft>
              <a:defRPr sz="1600">
                <a:solidFill>
                  <a:srgbClr val="1A235B"/>
                </a:solidFill>
              </a:defRPr>
            </a:pPr>
            <a:r>
              <a:t>  - [punto 1]</a:t>
            </a:r>
          </a:p>
          <a:p>
            <a:pPr>
              <a:spcAft>
                <a:spcPts val="800"/>
              </a:spcAft>
              <a:defRPr sz="1600">
                <a:solidFill>
                  <a:srgbClr val="1A235B"/>
                </a:solidFill>
              </a:defRPr>
            </a:pPr>
            <a:r>
              <a:t>  - [punto 2]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64592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A235B"/>
                </a:solidFill>
              </a:defRPr>
            </a:pPr>
            <a:r>
              <a:t>Esperienza con [NOME_TOOL]:</a:t>
            </a:r>
          </a:p>
          <a:p>
            <a:pPr>
              <a:spcAft>
                <a:spcPts val="800"/>
              </a:spcAft>
              <a:defRPr sz="1600">
                <a:solidFill>
                  <a:srgbClr val="1A235B"/>
                </a:solidFill>
              </a:defRPr>
            </a:pPr>
            <a:r>
              <a:t>  - Pro: [punto]</a:t>
            </a:r>
          </a:p>
          <a:p>
            <a:pPr>
              <a:spcAft>
                <a:spcPts val="800"/>
              </a:spcAft>
              <a:defRPr sz="1600">
                <a:solidFill>
                  <a:srgbClr val="1A235B"/>
                </a:solidFill>
              </a:defRPr>
            </a:pPr>
            <a:r>
              <a:t>  - Contro: [punto]</a:t>
            </a:r>
          </a:p>
          <a:p>
            <a:pPr>
              <a:spcAft>
                <a:spcPts val="800"/>
              </a:spcAft>
              <a:defRPr sz="1600">
                <a:solidFill>
                  <a:srgbClr val="1A235B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A235B"/>
                </a:solidFill>
              </a:defRPr>
            </a:pPr>
            <a:r>
              <a:t>Se avessimo piu tempo:</a:t>
            </a:r>
          </a:p>
          <a:p>
            <a:pPr>
              <a:spcAft>
                <a:spcPts val="800"/>
              </a:spcAft>
              <a:defRPr sz="1600">
                <a:solidFill>
                  <a:srgbClr val="1A235B"/>
                </a:solidFill>
              </a:defRPr>
            </a:pPr>
            <a:r>
              <a:t>  - [cosa avremmo fatto]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5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GRAZIE!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3B82F6"/>
                </a:solidFill>
              </a:defRPr>
            </a:pPr>
            <a:r>
              <a:t>Team [NOME_TEAM]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</a:defRPr>
            </a:pPr>
            <a:r>
              <a:t>Domande?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